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5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879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0"/>
            <a:ext cx="228600" cy="5143500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3891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MSML 604 - Introduction to Optimization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Optimization for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" y="158191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2203704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Tuning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11480" y="29443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retrieval signal weights via constrained Quadratic Programming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3520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Chaudhari  ·  Sakshaat Raut  ·  Ritika Karande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0050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github.com/Lord2709/RAG-Convex-Optimization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Why Optimize RAG Weights?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RAG pipelines combine three retrieval signals: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892040" cy="621792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45720" cy="62179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93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cosine similarity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4533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match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947672"/>
            <a:ext cx="4892040" cy="621792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947672"/>
            <a:ext cx="45720" cy="62179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025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lexical 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2585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keyword overlap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660904"/>
            <a:ext cx="4892040" cy="621792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660904"/>
            <a:ext cx="45720" cy="62179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15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diversity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29718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redundancy reduction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3159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typically set by hand, but what is the true optimization structure?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77840" y="804672"/>
            <a:ext cx="3154680" cy="4005072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15000" y="914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715000" y="1371600"/>
            <a:ext cx="347472" cy="347472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44768" y="135331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weight learning problem convex?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15000" y="2377440"/>
            <a:ext cx="347472" cy="347472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144768" y="235915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convex relaxation lose accuracy vs. non-convex?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3383280"/>
            <a:ext cx="347472" cy="347472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44768" y="336499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MMR diversity add value?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Novel Contributions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54864" cy="181051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6344" y="950976"/>
            <a:ext cx="384048" cy="384048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9326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 Formulation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" y="1417320"/>
            <a:ext cx="3904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cast RAG retrieval weight learning as a constrained QP on the probability simplex, a formulation not previously applied to this problem, and formally prove the full joint problem is NP-hard.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54864" cy="1810512"/>
          </a:xfrm>
          <a:prstGeom prst="rect">
            <a:avLst/>
          </a:prstGeom>
          <a:solidFill>
            <a:srgbClr val="0A7A9A"/>
          </a:solidFill>
          <a:ln w="12700">
            <a:solidFill>
              <a:srgbClr val="0A7A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1184" y="950976"/>
            <a:ext cx="384048" cy="384048"/>
          </a:xfrm>
          <a:prstGeom prst="line">
            <a:avLst/>
          </a:prstGeom>
          <a:solidFill>
            <a:srgbClr val="0A7A9A"/>
          </a:solidFill>
          <a:ln w="12700">
            <a:solidFill>
              <a:srgbClr val="0A7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01184" y="950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76672" y="9326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Derivation via KKT Analysis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01184" y="1417320"/>
            <a:ext cx="3904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prove analytically via KKT complementary slackness that the MMR diversity weight is inactive at the optimum for single-answer factual QA. This is derived from first principles, not merely observed empirically.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54864" cy="18105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" y="2980944"/>
            <a:ext cx="384048" cy="384048"/>
          </a:xfrm>
          <a:prstGeom prst="lin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1832" y="29626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Relaxation Gap Measurement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" y="3447288"/>
            <a:ext cx="3904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quantify exactly how much accuracy the convex formulation sacrifices vs. the non-convex optimizer, a 3.0% gap on Recall@5. This is an original empirical contribution specific to RAG retrieval.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52928"/>
            <a:ext cx="4160520" cy="18105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52928"/>
            <a:ext cx="54864" cy="1810512"/>
          </a:xfrm>
          <a:prstGeom prst="rect">
            <a:avLst/>
          </a:prstGeom>
          <a:solidFill>
            <a:srgbClr val="7A5CC0"/>
          </a:solidFill>
          <a:ln w="12700">
            <a:solidFill>
              <a:srgbClr val="7A5C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2980944"/>
            <a:ext cx="384048" cy="384048"/>
          </a:xfrm>
          <a:prstGeom prst="line">
            <a:avLst/>
          </a:prstGeom>
          <a:solidFill>
            <a:srgbClr val="7A5CC0"/>
          </a:solidFill>
          <a:ln w="12700">
            <a:solidFill>
              <a:srgbClr val="7A5C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76672" y="2962656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Regularization Sensitivity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01184" y="3447288"/>
            <a:ext cx="3904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systematically sweep λ across 5 orders of magnitude (10⁻⁴ → 10¹) and show that learned weights are remarkably stable, demonstrating practical robustness of the QP formulation.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Formulation: The QP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04672"/>
            <a:ext cx="7680960" cy="1920240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8961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20240" y="859536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‖Xw − y‖²  +  λ‖w‖²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140817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≥ 0   and   Σwᵢ = 1   (probability simplex)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54864" cy="89611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8745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global minimum guaranteed for λ &gt;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via CVXPY + OSQP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944368"/>
            <a:ext cx="1920240" cy="1810512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[cosine | BM25 | MMR]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14600" y="2944368"/>
            <a:ext cx="1920240" cy="1810512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1460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606040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vector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[wc, wb, wd]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944368"/>
            <a:ext cx="1920240" cy="1810512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709160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relevance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∈ {0,1}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2944368"/>
            <a:ext cx="1920240" cy="1810512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20840" y="29992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12280" y="356616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regularization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(λ &gt; 0)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Structure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04672"/>
            <a:ext cx="4160520" cy="4005072"/>
          </a:xfrm>
          <a:prstGeom prst="rect">
            <a:avLst/>
          </a:prstGeom>
          <a:solidFill>
            <a:srgbClr val="E8F4F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4160520" cy="457200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Weight Learning Subproblem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convex QP, Hessian H = 2(XᵀX + λI) is positive definite for λ &gt;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set is the probability simplex, a convex polytope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151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global minimum guaranteed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efficiently in milliseconds via CVXPY + OSQP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587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duality holds (Slater's condition satisfied)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804672"/>
            <a:ext cx="4160520" cy="4005072"/>
          </a:xfrm>
          <a:prstGeom prst="rect">
            <a:avLst/>
          </a:prstGeom>
          <a:solidFill>
            <a:srgbClr val="FDF0E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04672"/>
            <a:ext cx="4160520" cy="457200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8229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Full Joint Problem (NP-Hard)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13716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learns w AND selects k-subset from n candidates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9933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selection: C(n,k) possible combinations, combinatorial &amp; NP-hard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6151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generation loss non-differentiable w.r.t. w when selection depends on 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323697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 → multiple local minima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85876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Nelder-Mead on Recall@k directly (gradient-free)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KKT Conditions &amp; the Diversity Finding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KKT Stationarity at optimal w*: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5029200" cy="914400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252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2(XᵀX + λI)w* − 2Xᵀy + μ1 − ν = 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∈ ℝ (simplex multiplier)   ν ≥ 0 (non-negativity multiplier)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Slackness: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5029200" cy="50292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60904"/>
            <a:ext cx="4754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νᵢ · wᵢ* = 0    for each 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246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wᵢ* = 0 (active bound), νᵢ &gt; 0, gradient still pushes toward zero.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703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Problem (strong duality via Slater's):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005072"/>
            <a:ext cx="50292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4164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− ¼λ‖μ1 + Xᵀy‖² − 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44398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Duality gap = 0  ·  Primal = Dual at optimum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804672"/>
            <a:ext cx="3154680" cy="4005072"/>
          </a:xfrm>
          <a:prstGeom prst="rect">
            <a:avLst/>
          </a:prstGeom>
          <a:solidFill>
            <a:srgbClr val="1B2A4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91440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760720" y="1353312"/>
            <a:ext cx="2971800" cy="1143000"/>
          </a:xfrm>
          <a:prstGeom prst="rect">
            <a:avLst/>
          </a:prstGeom>
          <a:solidFill>
            <a:srgbClr val="223560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138988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w_diversity* = 0.000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760720" y="187452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QP  &amp;  Non-Convex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0" y="26334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KKT proves diversity weight hits its lower bound ν_d &gt; 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14553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gain per doc &lt; regularization penalty on TriviaQA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36576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Single-answer factual QA does not benefit from diversity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60720" y="416966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holds across all λ values (confirmed empirically)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End-to-End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15568"/>
            <a:ext cx="1444752" cy="1965960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15568"/>
            <a:ext cx="1444752" cy="384048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41401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train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2061972"/>
            <a:ext cx="201168" cy="7315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400000">
            <a:off x="1920240" y="1979676"/>
            <a:ext cx="91440" cy="237744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1115568"/>
            <a:ext cx="1444752" cy="1965960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15568"/>
            <a:ext cx="1444752" cy="384048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1247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39112" y="157276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FAISS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39112" y="241401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56432" y="2061972"/>
            <a:ext cx="201168" cy="7315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639312" y="1979676"/>
            <a:ext cx="91440" cy="237744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115568"/>
            <a:ext cx="1444752" cy="1965960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12464" y="1115568"/>
            <a:ext cx="1444752" cy="384048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1247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58184" y="157276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58184" y="241401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matrix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 × 3]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75504" y="2061972"/>
            <a:ext cx="201168" cy="7315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5358384" y="1979676"/>
            <a:ext cx="91440" cy="237744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31536" y="1115568"/>
            <a:ext cx="1444752" cy="1965960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31536" y="1115568"/>
            <a:ext cx="1444752" cy="384048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31536" y="11247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77256" y="157276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 / Nelder-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Mead Opt.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77256" y="241401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w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94576" y="2061972"/>
            <a:ext cx="201168" cy="7315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7077456" y="1979676"/>
            <a:ext cx="91440" cy="237744"/>
          </a:xfrm>
          <a:prstGeom prst="line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50608" y="1115568"/>
            <a:ext cx="1444752" cy="1965960"/>
          </a:xfrm>
          <a:prstGeom prst="rect">
            <a:avLst/>
          </a:prstGeom>
          <a:solidFill>
            <a:srgbClr val="1B2A4A"/>
          </a:solidFill>
          <a:ln/>
          <a:effectLst>
            <a:outerShdw blurRad="635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50608" y="1115568"/>
            <a:ext cx="1444752" cy="384048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12471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96328" y="1572768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LLM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196328" y="2414016"/>
            <a:ext cx="1353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EM, F1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32918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  x(q, dᵢ) = [ cosine(q, dᵢ),  BM25(q, dᵢ),  MMR(dᵢ, R) ] ,  score(q, dᵢ) = wᵀx(q, dᵢ)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" y="37490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compared:  Convex QP  ·  Non-Convex (Nelder-Mead)  ·  Equal Weights  ·  Cosine Only  ·  BM25 Only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1480" y="4187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TriviaQA rc.wikipedia  ·  150 train / 50 test queries  ·  all-MiniLM-L6-v2 embeddings  ·  FAISS + rank-bm25  ·  Groq LLM eval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TriviaQA (rc.wikipedia)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07008"/>
            <a:ext cx="2011680" cy="1005840"/>
          </a:xfrm>
          <a:prstGeom prst="rect">
            <a:avLst/>
          </a:prstGeom>
          <a:solidFill>
            <a:srgbClr val="EDF4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28016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C8B8B"/>
                </a:solidFill>
              </a:rPr>
              <a:t>150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790395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Train Queries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207008"/>
            <a:ext cx="2011680" cy="1005840"/>
          </a:xfrm>
          <a:prstGeom prst="rect">
            <a:avLst/>
          </a:prstGeom>
          <a:solidFill>
            <a:srgbClr val="EDF4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280160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C8B8B"/>
                </a:solidFill>
              </a:rPr>
              <a:t>50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790395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Test Queries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331720"/>
            <a:ext cx="2011680" cy="1005840"/>
          </a:xfrm>
          <a:prstGeom prst="rect">
            <a:avLst/>
          </a:prstGeom>
          <a:solidFill>
            <a:srgbClr val="EDF4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04872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C8B8B"/>
                </a:solidFill>
              </a:rPr>
              <a:t>356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11480" y="2915107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Corpus Docs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2331720"/>
            <a:ext cx="2011680" cy="1005840"/>
          </a:xfrm>
          <a:prstGeom prst="rect">
            <a:avLst/>
          </a:prstGeom>
          <a:solidFill>
            <a:srgbClr val="EDF4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14600" y="2404872"/>
            <a:ext cx="2011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C8B8B"/>
                </a:solidFill>
              </a:rPr>
              <a:t>10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514600" y="2915107"/>
            <a:ext cx="20116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Retrieved per Q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Embedding model: all-MiniLM-L6-v2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FAISS approximate nearest neighbour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rank-bm25 for sparse retrieval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λ = 0.01  |  Solver: OSQP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822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Compared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207008"/>
          <a:ext cx="3749040" cy="292608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Convex QP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Constrained QP on simplex (our main)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Non-Convex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Nelder-Mead on Recall@k directly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w = [1/3, 1/3, 1/3]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[1, 0, 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= [0, 1, 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Performance: Recall@k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pic>
        <p:nvPicPr>
          <p:cNvPr id="4" name="Image 0" descr="/sessions/charming-focused-wright/mnt/RAG-Convex-Optimization/results/figures/fig1_recall_at_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5303520" cy="33651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97880" y="804672"/>
            <a:ext cx="2926080" cy="960120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85039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0.892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897880" y="13533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QP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97880" y="1847088"/>
            <a:ext cx="2926080" cy="960120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1892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897880" y="23957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97880" y="2889504"/>
            <a:ext cx="2926080" cy="960120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97880" y="2935224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97880" y="34381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97880" y="3931920"/>
            <a:ext cx="2926080" cy="960120"/>
          </a:xfrm>
          <a:prstGeom prst="rect">
            <a:avLst/>
          </a:prstGeom>
          <a:solidFill>
            <a:srgbClr val="EDF4F8"/>
          </a:solidFill>
          <a:ln/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3977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0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0.500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5897880" y="44805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Retrieval Weights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pic>
        <p:nvPicPr>
          <p:cNvPr id="4" name="Image 0" descr="/sessions/charming-focused-wright/mnt/RAG-Convex-Optimization/results/figures/fig4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5303520" cy="321230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822960"/>
          <a:ext cx="2880360" cy="1828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Convex QP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Non-Convex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97880" y="2788920"/>
            <a:ext cx="2880360" cy="1993392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035040" y="28803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989320" y="3291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&gt; cosine on factual QA, lexical overlap matters for trivia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989320" y="3803904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diversity weight → 0 via KKT complementary slackness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989320" y="431596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optimizers agree: diversity adds no value here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Relaxation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pic>
        <p:nvPicPr>
          <p:cNvPr id="4" name="Image 0" descr="/sessions/charming-focused-wright/mnt/RAG-Convex-Optimization/results/figures/fig5_relaxatio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22960"/>
            <a:ext cx="5943600" cy="26760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822960"/>
            <a:ext cx="2331720" cy="4005072"/>
          </a:xfrm>
          <a:prstGeom prst="rect">
            <a:avLst/>
          </a:prstGeom>
          <a:solidFill>
            <a:srgbClr val="1B2A4A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914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92240" y="1536192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6583680" y="2240280"/>
            <a:ext cx="2148840" cy="27432"/>
          </a:xfrm>
          <a:prstGeom prst="rect">
            <a:avLst/>
          </a:prstGeom>
          <a:solidFill>
            <a:srgbClr val="3A5070"/>
          </a:solidFill>
          <a:ln w="12700">
            <a:solidFill>
              <a:srgbClr val="3A50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233172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QP: Recall@5 = 0.892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37960" y="288036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Non-Convex: Recall@5 = 0.922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537960" y="342900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small but real and consistent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37960" y="3977640"/>
            <a:ext cx="21762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C8DC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solution 1,000× faster to compute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Regularization Sensitivity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pic>
        <p:nvPicPr>
          <p:cNvPr id="4" name="Image 0" descr="/sessions/charming-focused-wright/mnt/RAG-Convex-Optimization/results/figures/fig8_lambda_sensi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785404"/>
            <a:ext cx="5528854" cy="42529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55080" y="822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sweep: 10⁻⁴ → 10¹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263640" y="1261872"/>
            <a:ext cx="2514600" cy="804672"/>
          </a:xfrm>
          <a:prstGeom prst="rect">
            <a:avLst/>
          </a:prstGeom>
          <a:solidFill>
            <a:srgbClr val="EDF4F8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63640" y="1261872"/>
            <a:ext cx="45720" cy="80467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stable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&amp; BM25 unchanged across 5 orders of magnitude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2176272"/>
            <a:ext cx="2514600" cy="804672"/>
          </a:xfrm>
          <a:prstGeom prst="rect">
            <a:avLst/>
          </a:prstGeom>
          <a:solidFill>
            <a:srgbClr val="EDF4F8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63640" y="2176272"/>
            <a:ext cx="45720" cy="80467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0" y="22128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= 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24871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at all </a:t>
            </a:r>
            <a:r>
              <a:rPr lang="en-US" sz="10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strong empirical confirmation of KKT result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63640" y="3090672"/>
            <a:ext cx="2514600" cy="804672"/>
          </a:xfrm>
          <a:prstGeom prst="rect">
            <a:avLst/>
          </a:prstGeom>
          <a:solidFill>
            <a:srgbClr val="EDF4F8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3090672"/>
            <a:ext cx="45720" cy="80467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3127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flat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34015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Recall@5 ≈ 0.939 across all </a:t>
            </a:r>
            <a:r>
              <a:rPr lang="en-US" sz="1000" dirty="0" err="1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robust to regularization choice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263640" y="4005072"/>
            <a:ext cx="2514600" cy="804672"/>
          </a:xfrm>
          <a:prstGeom prst="rect">
            <a:avLst/>
          </a:prstGeom>
          <a:solidFill>
            <a:srgbClr val="EDF4F8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4005072"/>
            <a:ext cx="45720" cy="804672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value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0" y="43159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0.01 (default) is a safe choice, results are insensitive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&amp; Full Metrics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pic>
        <p:nvPicPr>
          <p:cNvPr id="4" name="Image 0" descr="/sessions/charming-focused-wright/mnt/RAG-Convex-Optimization/results/figures/fig3_mrr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5029200" cy="3191117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22960"/>
          <a:ext cx="3200400" cy="29260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Convex QP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Non-Convex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Wt.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577840" y="3886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Cosine-only ranks highest because the embedding model was used to build the FAISS index, it dominates on this dataset without BM25 fusion trade-offs.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Generation Quality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pic>
        <p:nvPicPr>
          <p:cNvPr id="4" name="Image 0" descr="/sessions/charming-focused-wright/mnt/RAG-Convex-Optimization/results/figures/fig6_gen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04672"/>
            <a:ext cx="5029200" cy="36155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3560" y="822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QP + Groq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23560" y="1554480"/>
            <a:ext cx="3154680" cy="1051560"/>
          </a:xfrm>
          <a:prstGeom prst="rect">
            <a:avLst/>
          </a:prstGeom>
          <a:solidFill>
            <a:srgbClr val="EDF4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23560" y="1627632"/>
            <a:ext cx="3154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C8B8B"/>
                </a:solidFill>
              </a:rPr>
              <a:t>0.633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623560" y="2164385"/>
            <a:ext cx="315468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Exact Match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23560" y="2697480"/>
            <a:ext cx="3154680" cy="1051560"/>
          </a:xfrm>
          <a:prstGeom prst="rect">
            <a:avLst/>
          </a:prstGeom>
          <a:solidFill>
            <a:srgbClr val="EDF4F8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23560" y="2770632"/>
            <a:ext cx="315468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2A8A8"/>
                </a:solidFill>
              </a:rPr>
              <a:t>0.682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623560" y="3307385"/>
            <a:ext cx="315468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5166"/>
                </a:solidFill>
              </a:rPr>
              <a:t>Token F1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3560" y="3858768"/>
            <a:ext cx="3154680" cy="868680"/>
          </a:xfrm>
          <a:prstGeom prst="rect">
            <a:avLst/>
          </a:prstGeom>
          <a:solidFill>
            <a:srgbClr val="EDF4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623560" y="3858768"/>
            <a:ext cx="45720" cy="868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39136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test queries evaluated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inference in ~90s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" y="0"/>
            <a:ext cx="228600" cy="5143500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86384"/>
            <a:ext cx="8321040" cy="36576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4160520" cy="1508760"/>
          </a:xfrm>
          <a:prstGeom prst="rect">
            <a:avLst/>
          </a:prstGeom>
          <a:solidFill>
            <a:srgbClr val="22356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45720" cy="1508760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 subproblem is strongly convex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global minimum guaranteed, CVXPY solves it in milliseconds.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4160520" cy="1508760"/>
          </a:xfrm>
          <a:prstGeom prst="rect">
            <a:avLst/>
          </a:prstGeom>
          <a:solidFill>
            <a:srgbClr val="22356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633472"/>
            <a:ext cx="45720" cy="1508760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066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3090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relaxation gap is 3.0% on Recall@5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real; convex trades ~3% accuracy for ~1000× computational speed.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960120"/>
            <a:ext cx="4160520" cy="1508760"/>
          </a:xfrm>
          <a:prstGeom prst="rect">
            <a:avLst/>
          </a:prstGeom>
          <a:solidFill>
            <a:srgbClr val="22356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960120"/>
            <a:ext cx="45720" cy="1508760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83480" y="14173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diversity weight = 0 (KKT + empirical)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1801368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slackness confirms diversity adds no value for single-answer factual QA.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633472"/>
            <a:ext cx="4160520" cy="1508760"/>
          </a:xfrm>
          <a:prstGeom prst="rect">
            <a:avLst/>
          </a:prstGeom>
          <a:solidFill>
            <a:srgbClr val="223560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633472"/>
            <a:ext cx="45720" cy="1508760"/>
          </a:xfrm>
          <a:prstGeom prst="rect">
            <a:avLst/>
          </a:prstGeom>
          <a:solidFill>
            <a:srgbClr val="0C8B8B"/>
          </a:solidFill>
          <a:ln w="12700">
            <a:solidFill>
              <a:srgbClr val="0C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70662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C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83480" y="3090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sensitivity: weights remarkably stable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34747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cosine/BM25 split unchanged across 5 orders of magnitude in </a:t>
            </a:r>
            <a:r>
              <a:rPr lang="en-US" sz="1050" dirty="0" err="1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r>
              <a:rPr lang="en-US" sz="1050" dirty="0">
                <a:solidFill>
                  <a:srgbClr val="B8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robust.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37083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7AA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github.com/Lord2709/RAG-Convex-Optimization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1251</Words>
  <Application>Microsoft Macintosh PowerPoint</Application>
  <PresentationFormat>On-screen Show (16:9)</PresentationFormat>
  <Paragraphs>257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Convex Optimization for RAG Pipeline Tuning – MSML604</dc:title>
  <dc:subject>PptxGenJS Presentation</dc:subject>
  <dc:creator>Sahil Chaudhari, Sakshaat Raut, Ritika Karande</dc:creator>
  <cp:lastModifiedBy>sahil chaudhari</cp:lastModifiedBy>
  <cp:revision>2</cp:revision>
  <dcterms:created xsi:type="dcterms:W3CDTF">2026-05-03T13:39:26Z</dcterms:created>
  <dcterms:modified xsi:type="dcterms:W3CDTF">2026-05-03T20:00:20Z</dcterms:modified>
</cp:coreProperties>
</file>